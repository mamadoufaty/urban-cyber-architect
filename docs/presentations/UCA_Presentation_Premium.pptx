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Urban Cyber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</a:defRPr>
            </a:pPr>
            <a:r>
              <a:t>Plateforme intégrée de cybersécurité &amp; urbanisme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</a:defRPr>
            </a:pPr>
            <a:r>
              <a:t>Gouverner · Cartographier · Évaluer · Piloter · Livrer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</a:defRPr>
            </a:pPr>
            <a:r>
              <a:t>Urban Cyber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96AB"/>
                </a:solidFill>
              </a:defRPr>
            </a:pPr>
            <a:r>
              <a:t>Présentation Premium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Présentation générale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Vision, valeur métier et positionnement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Unifier urbanisme SI, analyse de risques EBIOS RM et gouvernance SSI dans une plateforme unique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Passer de la conformité documentaire à la pilotage opérationnel des risques cyber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Capitaliser la connaissance organisationnelle dans un graphe de connaissances exploitable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Accompagner RSSI, DSI, métiers et COMEX avec des livrables prêts à l'emploi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Industrialiser la chaîne : cartographie → risques → traitement → SOC →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Objectifs stratégiques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Réduire le time-to-value des études EBIOS RM de plusieurs semaines à quelques jours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Maintenir une cartographie SI vivante, versionnée et alignée sur le terrain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Automatiser la production de PSSI, registre des risques, PTR et synthèses COMEX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Corréler les risques théoriques (GRC) avec les alertes opérationnelles (SOC/Wazuh)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Démontrer la conformité ISO 27001, NIS2, DORA et recommandations ANSSI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Valeur métier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Vision 360° du SI : organisation, métiers, processus, applications, infra, flux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Décisions éclairées : heatmaps, KPIs RSSI, priorisation budgétaire des mesures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Traçabilité complète : historique des versions, validations, justifications EBIOS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Réduction des silos entre urbanisme, sécurité, conformité et exploitation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ROI mesurable : moins de ressaisie, moins d'ateliers répétitifs, livrables instantanés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Cartographies Excel obsolètes, non partagées, sans lien avec l'analyse de risques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Études EBIOS longues, peu capitalisées, déconnectées du SI réel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Registres de risques et PTR maintenus manuellement, hors synchronisation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SOC et GRC en silos : alertes Wazuh sans contexte métier ni actif cartographié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Pression réglementaire croissante : NIS2, DORA, ISO 27001, ANSSI collectivités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 d'usage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Secteur 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Métropoles et collectivités (NIS2, ANSSI)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Opérateurs de services essentiels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Administrations et établissements publics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Centres de supervision urbaine (CSU)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Secteur privé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Industrie et OT/IT (EBIOS, PCA/PRA)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Services financiers (DORA, ISO 27001)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SSII et infogéreurs (multi-clients)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Cabinets de conseil en cybersécurité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Public 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COMEX / CODIR — synthèses exécutives, arbitrages budgétaires, vision stratégique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RSSI / CISO — pilotage des risques, EBIOS, PSSI, conformité, SOC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DSI / DNum — urbanisme SI, cartographie, architecture, projets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DPO / Conformité — RGPD, NIS2, traçabilité des traitements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Consultants &amp; auditeurs — méthodologie structurée, livrables standardisés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Positionnement produit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Ni un simple outil de cartographie, ni un SIEM isolé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Plateforme GRC augmentée par l'urbanisme SI et l'IA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Méthodologie EBIOS RM native, pas un module générique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Connecteur SOC Wazuh intégré pour corrélation risque ↔ alerte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Comparable aux offres cabinet (Wavestone, Deloitte) mais industrialisée et outillée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Stack, composants et intégrations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 globale Urban Cyber Architect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React 19</a:t>
            </a:r>
            <a:br/>
            <a:r>
              <a:t>Frontend SPA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011680" cy="9144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FastAPI</a:t>
            </a:r>
            <a:br/>
            <a:r>
              <a:t>Backend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371600"/>
            <a:ext cx="2286000" cy="9144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SQLite / PostgreSQL</a:t>
            </a:r>
            <a:br/>
            <a:r>
              <a:t>Base de données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286000" cy="91440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Moteur Urbanisme</a:t>
            </a:r>
            <a:br/>
            <a:r>
              <a:t>Layout &amp; Import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926080"/>
            <a:ext cx="2286000" cy="91440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EBIOS RM Engine</a:t>
            </a:r>
            <a:br/>
            <a:r>
              <a:t>5 Ateliers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2286000" cy="9144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IA / Copilot RSSI</a:t>
            </a:r>
            <a:br/>
            <a:r>
              <a:t>Recommandations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22860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GRC &amp; Livrables</a:t>
            </a:r>
            <a:br/>
            <a:r>
              <a:t>PSSI · PTR · SoA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572000"/>
            <a:ext cx="22860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SOC / Wazuh</a:t>
            </a:r>
            <a:br/>
            <a:r>
              <a:t>Connecteur alertes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72000"/>
            <a:ext cx="228600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Knowledge Graph</a:t>
            </a:r>
            <a:br/>
            <a:r>
              <a:t>Capitalisation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1828800"/>
            <a:ext cx="45720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12080" y="1828800"/>
            <a:ext cx="45720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Frontend — React 19 + TypeScript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SPA moderne : navigation par modules (Urbanisme, EBIOS, GRC, SOC, Admin)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Visualisation graphique Club Urba : couches, zones, entités, relations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Composants métier : ateliers EBIOS, heatmaps, dashboards RSSI, livrables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Gestion des permissions par rôle (RSSI, consultant, admin, lecteur)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Déploiement Vercel / conteneur, thème sombre professionnel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Backend — FastAPI +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API REST structurée par domaines : auth, urbanism, cartography, ebios, admin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Services métier découplés : import Excel, moteur urbanisme, générateurs EBIOS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ORM SQLAlchemy, migrations, isolation multi-projets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CLI d'administration : bootstrap admin, seed démo Métropolis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Tests automatisés : 230+ tests backend, couverture des workflows critiques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API &amp; Intégrations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Authentification JWT, gestion utilisateurs et rôles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Import/export cartographie Excel (template Club Urba V1.4)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Endpoints EBIOS : ateliers 1 à 5, propositions IA, validation/rejet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Livrables : rapport complet, registre, PTR, synthèse COMEX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Connecteur Wazuh : corrélation alertes ↔ actifs cartographiés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Base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Modèle relationnel : projets, entités urbanisme, cartographies versionnées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Référentiels : ISO 27001/02, NIST CSF, CIS, DORA, NIS2, ANSSI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EBIOS : événements redoutés, sources de risque, scénarios, mesures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GRC : risques, traitements, SoA, documents générés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SQLite (dev) / PostgreSQL (production)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Moteur IA &amp; Copilot RSSI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Génération assistée : sources de risque, scénarios stratégiques, mesures de sécurité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Justifications contextuelles basées sur la cartographie active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Score de confiance et workflow proposer → valider → rejeter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Copilot RSSI : recommandations alignées référentiels (ISO, CIS, ANSSI)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Roadmap : prédiction des risques, jumeau numérique, agent autonome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Moteur Urbanisme 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Import Excel multi-feuilles : entités, relations, métadonnées par couche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Layout automatique : positionnement graphique, zones Club Urba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Déduplication, validation, fusion de cartographies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Versioning : brouillon → publiée → archivée, historique complet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Alimentation directe des ateliers EBIOS (actifs, parties prenantes)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RM — Moteur méthodologique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5 ateliers implémentés : cadrage, sources, scénarios, impacts, mesures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Génération automatique à partir de la cartographie validée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Lien bidirectionnel urbanisme ↔ risques ↔ mesures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Progression calculée, blocage si prérequis non validés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Livrables réglementaires générés à la demande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SOC &amp; Wazuh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Supervision opérationnelle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Collecte alertes Wazuh (agents, règles, corrélation)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Mapping alerte → actif cartographié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MTTD, tendances, criticité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Pont GRC ↔ opérationnel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Valeur ajoutée UCA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Contexte métier sur chaque alerte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Priorisation selon registre des risques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Remontée COMEX : risque théorique vs réel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Boucle fermée détection → traitement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GRC &amp; Livrables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PSSI générée depuis cartographie et référentiels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Registre des risques synchronisé avec EBIOS atelier 4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Plan de traitement des risques (PTR) avec priorités et budgets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Déclaration d'applicabilité (SoA) ISO 27001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4 livrables EBIOS : rapport, registre, PTR, synthèse exécutive COMEX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Urbanisme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Cartographie multi-couches et gouvernance du 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Qu'est-ce que l'urbanisme SI 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Discipline de gouvernance alignant le SI sur la stratégie de l'organisation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Représentation structurée du SI en couches : du métier à l'infrastructure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Outil de dialogue entre DSI, métiers, RSSI, architecture et prestataires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Fondation indispensable pour EBIOS RM, PCA/PRA, audits et projets de transformation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Urban Cyber Architect implémente le référentiel Club Urba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Pourquoi une cartographie est indispensable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Sans cartographie : analyse de risques sur des hypothèses, pas sur le réel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Identification des actifs supports et biens essentiels (EBIOS atelier 1)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Visualisation des dépendances critiques (cascade de pannes)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Support de décision pour investissements, obsolescence, cloud, externalisation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Base documentaire pour NIS2, ISO 27001, ANSSI et audits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Les 7 couches de la cartographie Club Urba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011680" cy="6400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Organisation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011680"/>
            <a:ext cx="2011680" cy="6400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Métier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834640"/>
            <a:ext cx="2011680" cy="6400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657600"/>
            <a:ext cx="2011680" cy="6400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Fonctionnel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480560"/>
            <a:ext cx="2011680" cy="6400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Applicatif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303520"/>
            <a:ext cx="2011680" cy="6400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Technique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200400"/>
            <a:ext cx="201168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Flux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Structure hiérarchique, rôles, responsabilités et instances de gouvernance.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Clarifier qui décide, qui opère, qui contrôle le 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Directions, pôles, services, rôles (RSSI, DPO, DSI), comités.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Métropole Métropolis : DG, DNum, Pôle SSI, directions métiers (mobilité, eau).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Alimente les parties prenantes EBIOS et la chaîne de responsabilité.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Import Excel + visualisation ; lien vers stakeholders EBIOS W1.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Métier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Activités et capacités métier de l'organisation, indépendantes du 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Exprimer les besoins métiers et la valeur délivrée aux usagers.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Domaines métier, capacités, objectifs stratégiques, indicateurs.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Métropolis : mobilité, eau/assainissement, énergie, sécurité publique, open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Justifie les investissements SI et priorise les biens essentiels.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Couleur #00d4aa ; mapping vers événements redoutés EBIOS.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Processus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Enchaînements d'activités métier créant de la valeur (chaîne de valeur).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Modéliser les flux métier pour identifier points de fragilité.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Processus bout-en-bout, activités, acteurs, entrées/sorties.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Gestion crise CSU, traitement demandes citoyennes, exploitation SCADA 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Base pour scénarios opérationnels et continuité d'activité (PCA).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Relations processus ↔ applications ↔ données dans le graphe.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Fonctionnel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Services fonctionnels transverses offerts par le SI aux métiers.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Décrire QUOI le SI doit faire, sans préciser QUELLE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Fonctions : authentification, notification, cartographie, reporting, supervision.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IAM métropolitain, portail citoyen, API open data, supervision SCADA.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Interface entre besoins métier et solutions applicatives.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Entités fonctionnelles liées aux applications et aux flux.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Applicatif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Applications, logiciels, modules et leurs interrelations.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Inventorier le parc applicatif et les dépendances logicielles.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Applications métier, SaaS, ERP, SCADA, GED, CRM,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Portail citoyen, SIEM Wazuh, SCADA eau, GMAO énergie, vidéoprotection.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Cible des vulnérabilités, obsolescence, DORA tests de résilience.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Import multi-feuilles ; relations ; alimentation actifs supports EBIOS.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Infrastructure physique et virtuelle hébergeant les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Documenter l'hébergement, les réseaux, le stockage, le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Serveurs, VM, conteneurs, cloud IaaS/PaaS, BDD, stockage, réseaux, 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Datacenter Métropolis, site PRA, fibre métropolitaine, automates SCADA.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Support des analyses de résilience, PRA, segmentation ANSSI.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Cartographie technique liée aux actifs supports et flux réseau.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Couche Flux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Échanges de données et d'informations entre composants du 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8016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Objectif /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4591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Identifier les flux critiques, les protocoles, les points de contrôle.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Contenu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Flux applicatifs (API REST), techniques (MQTT SCADA), métiers (éditiques).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97180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Exemples Métropolis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37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Flux vidéo CSU → stockage, portail → SI métier, SCADA → supervision.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Gouvernance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Analyse des flux = surface d'attaque, segmentation, surveillance SOC.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663440"/>
            <a:ext cx="5303520" cy="15087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</a:defRPr>
            </a:pPr>
            <a:r>
              <a:t>Dans 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292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DF5"/>
                </a:solidFill>
              </a:defRPr>
            </a:pPr>
            <a:r>
              <a:t>Visualisation graphique des edges ; corrélation alertes Wazuh par flux.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Cartographie — Versioning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Cycle de vie : brouillon → en revue → publiée → archivée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Numéro de version sémantique (v1.0, v1.1…)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Une seule cartographie active par projet à la fois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Historique des modifications et auteurs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Comparaison inter-versions (roadmap)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Cartographie — Import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Template Club Urba V1.4 : une feuille par type d'entité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Validation structurelle avant import (colonnes, types, relations)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Journal d'import détaillé : créées, mises à jour, erreurs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Support CSV et XLSX, encodage UTF-8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Projet fil rouge Métropolis : 680 000 habitants, 5 métiers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Cartographie — Visualisation &amp; Gouvernance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Vue graphique interactive : zoom, filtres par couche, recherche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Layout automatique Club Urba avec zones colorées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Fusion de cartographies, déduplication intelligente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Workflow de validation avant publication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Bannière d'état : cartographie active, version, date de publication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Référentiels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Normes, méthodes et cadres réglementaires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ISO 27001 — Contexte &amp; SMSI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Contexte : Norme internationale de management de la sécurité de l'information (2022).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Objectifs : Établir, implémenter, maintenir et améliorer un SMSI.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Structure : Clauses 4 à 10 (contexte, leadership, planification, support, opération, évaluation, amélioration).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Cas d'usage : Certification organisation, audits, marchés publics exigeant ISO 27001.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Intégration UCA : UCA : référentiel intégré, SoA, lien contrôles ↔ risques ↔ mesures EBIOS.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Annexe A : 93 contrôles de sécurité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Cycle PDCA : Plan → Do → Check → Act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ISO 27002 — Contrôles de 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Contexte : Catalogue de 93 mesures de sécurité organisées en 4 thèmes (2022).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Objectifs : Guider la sélection et l'implémentation des contrôles Annexe A.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Structure : 4 thèmes : Organisationnel (37), Personnel (8), Physique (14), Technologique (34).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Cas d'usage : Matrice contrôle ↔ risque ↔ mesure dans le PTR.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Intégration UCA : UCA : base des recommandations atelier 5 et génération PSSI.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ISO 27005 — Gestion des risques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Contexte : Guide ISO pour la gestion des risques de sécurité de l'information.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Objectifs : Identifier, analyser, évaluer, traiter et surveiller les risques.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Structure : Processus en 5 étapes : contexte, identification, analyse, évaluation, traitement.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Cas d'usage : Complémentaire à EBIOS RM (méthode française plus opérationnelle).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Intégration UCA : UCA : registre des risques, heatmap, échelles d'impact/vraisemblance.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RM — Historique &amp;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EBIOS Risk Manager : méthode ANSSI (2018, v1.1) d'analyse des risques cyber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Remplace EBIOS 2010 ; alignée ISO 27005 et doctrine ANSSI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Objectif : identifier et traiter les risques cyber sur les biens essentiels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Approche par ateliers collaboratifs avec parties prenantes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Urban Cyber Architect : implémentation complète des 5 ateliers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RM — Les 5 ateliers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10972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Atelier 1</a:t>
            </a:r>
            <a:br/>
            <a:r>
              <a:t>Cadrage &amp;</a:t>
            </a:r>
            <a:br/>
            <a:r>
              <a:t>Événements redoutés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828800" cy="10972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Atelier 2</a:t>
            </a:r>
            <a:br/>
            <a:r>
              <a:t>Sources de</a:t>
            </a:r>
            <a:br/>
            <a:r>
              <a:t>risque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1828800" cy="109728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Atelier 3</a:t>
            </a:r>
            <a:br/>
            <a:r>
              <a:t>Scénarios</a:t>
            </a:r>
            <a:br/>
            <a:r>
              <a:t>stratégiques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28800"/>
            <a:ext cx="1828800" cy="10972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Atelier 4</a:t>
            </a:r>
            <a:br/>
            <a:r>
              <a:t>Scénarios</a:t>
            </a:r>
            <a:br/>
            <a:r>
              <a:t>opérationnels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1828800" cy="10972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Atelier 5</a:t>
            </a:r>
            <a:br/>
            <a:r>
              <a:t>Mesures de</a:t>
            </a:r>
            <a:br/>
            <a:r>
              <a:t>sécurité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377440"/>
            <a:ext cx="36576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2377440"/>
            <a:ext cx="36576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377440"/>
            <a:ext cx="36576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2377440"/>
            <a:ext cx="36576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Atelier 1 : Cadrage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Définir le périmètre, les valeurs métier, les biens essentiels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Identifier les événements redoutés (impact métier unacceptable)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Parties prenantes : résolues depuis la cartographie organisation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Documents de référence : PSSI, politiques, contrats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générateur automatique depuis cartographie + contexte projet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Atelier 2 : Sources de risque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Identifier les sources de risque par événement redouté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Couples source/cible : acteurs, vulnérabilités, menaces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Génération IA contextuelle avec justifications et score de confiance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Validation/rejet par le consultant RSSI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résolution automatique des actifs depuis la cartographie active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Atelier 3 : Scénarios stratégiques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Enchaînements source → vulnérabilité → impact stratégique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Scénarios motivés par les événements redoutés validés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Propositions IA avec justification et niveau de confiance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Workflow proposer → valider → rejeter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générateur connecté aux W1/W2 validés + cartographie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Atelier 4 : Scénarios opérationnels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Déclinaison opérationnelle des scénarios stratégiques validés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Évaluation des impacts : confidentialité, intégrité, disponibilité, traçabilité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Grille impact × vraisemblance → niveau de risque brut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Identification des actifs supports et biens essentiels impactés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alimentation directe du registre des risques et de la heatmap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Atelier 5 : Mesures de 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Sélection des mesures pour traiter les risques identifiés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Référentiels de conformité : ISO 27002, CIS Controls, ANSSI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Estimation coût/bénéfice, priorisation automatique, échéances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Lien mesure ↔ risque ↔ contrôle SoA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génération PTR, bannière exécutive, recommandations IA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EBIOS — Workflow &amp; intégration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Progression globale calculée : prérequis atelier N avant N+1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Workflow universel : générer → proposer → valider / rejeter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Justifications IA ancrées sur la cartographie active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Livrables automatiques si étude complète (sinon avertissements)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Traçabilité complète pour audit et soutenance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NIST Cybersecurity Framework (CSF)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Contexte : Cadre américain de référence pour la cybersécurité (v2.0, 2024).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Objectifs : Organiser et améliorer la posture de sécurité de l'organisation.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Structure : 6 fonctions : Govern, Identify, Protect, Detect, Respond, Recover.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Cas d'usage : Profils CSF, tiers de mise en œuvre, communication inter-parties.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Intégration UCA : UCA : mapping modules vers fonctions NIST, dashboard de couverture.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Govern : gouvernance et stratégie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Identify : cartographie et actifs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Detect/Respond : SOC Wazuh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CIS Controls v8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Contexte : 18 mesures de sécurité prioritaires, ordonnées par efficacité.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Objectifs : Prioriser les actions à fort impact avec ressources limitées.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Structure : 18 contrôles en 3 groupes : Basique (1-6), Fondamental (7-16), Organisationnel (17-18).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Cas d'usage : Benchmark de maturité, recommandations opérationnelles.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Intégration UCA : UCA : référentiel des recommandations atelier 5, tags par mesure.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DORA — Digital Operational Resilience 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Contexte : Règlement UE 2022/2554 pour le secteur financier (applicable depuis 2025).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Objectifs : Renforcer la résilience opérationnelle numérique des entités financières.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Structure : 5 piliers : gouvernance ICT, gestion risques ICT, incidents, tests, tiers.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Cas d'usage : Établissements financiers, prestataires ICT critiques (TPPRM).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Intégration UCA : UCA : registre des risques ICT, tests de résilience, cartographie des tiers.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Reporting incidents aux autorités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Tests TLPT périodiques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NIS2 — Directive européenne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Contexte : Directive (UE) 2022/2555 renforçant la cybersécurité des OSE/OIV.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Objectifs : Harmoniser le niveau de cybersécurité en Europe, sanctions dissuasives.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Structure : Mesures : analyse de risques, gestion incidents, supply chain, chiffrement.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Cas d'usage : Métropolis = opérateur de services essentiels : obligations renforcées.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Intégration UCA : UCA : EBIOS + cartographie + SOC + registre = dossier de conformité NIS2.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Sanctions : jusqu'à 10 M€ ou 2% CA mondial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Notification incidents &lt; 24h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ANSSI — Doctrine &amp; Guides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Contexte : Agence nationale de la sécurité des systèmes d'information (France).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Objectifs : Définir la doctrine française de cybersécurité.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Structure : EBIOS RM, guides PSSI, architecture SSI, recommandations collectivités.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Cas d'usage : Classification, habilitation, réaction aux incidents.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Intégration UCA : UCA : méthode EBIOS native, modèles PSSI ANSSI, référentiel intégré.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Guide d'hygiène informatique</a:t>
            </a:r>
          </a:p>
          <a:p>
            <a:pPr>
              <a:spcAft>
                <a:spcPts val="800"/>
              </a:spcAft>
              <a:defRPr sz="1300">
                <a:solidFill>
                  <a:srgbClr val="E8EDF5"/>
                </a:solidFill>
              </a:defRPr>
            </a:pPr>
            <a:r>
              <a:t>Recommandations pour les collectivités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Gouvernance 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Modules GRC et pilotage des risques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PSSI — Politique de Sécurité 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Document fondateur définissant les règles de sécurité de l'organisation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Structure : gouvernance, classification, contrôle d'accès, incidents, continuité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Cycle de vie : rédaction → validation COMEX → diffusion → révision annuelle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génération assistée depuis cartographie, référentiels et contexte projet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Chapitres alignés ISO 27001 et recommandations ANSSI collectivités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Cartographie des risques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Représentation visuelle des risques par impact et vraisemblance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Heatmap interactive : zones critique / élevée / modérée / faible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Construction depuis les scénarios EBIOS atelier 4 validés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Filtrage par domaine métier, actif, source de risque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Support de décision pour le comité cyber et le COMEX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Heatmap des risques — Exemple Métropolis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017520" y="146304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Rare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Peu probable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Probable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D4AA"/>
                </a:solidFill>
              </a:defRPr>
            </a:pPr>
            <a:r>
              <a:t>Quasi-certain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96596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Faible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965960"/>
            <a:ext cx="1645920" cy="50292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Faible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65960"/>
            <a:ext cx="1645920" cy="50292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Faible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16459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Moyen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96596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Élevé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46888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Moyen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68880"/>
            <a:ext cx="1645920" cy="50292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Faible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468880"/>
            <a:ext cx="16459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Moyen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46888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Élevé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246888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297180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Élevé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2971800"/>
            <a:ext cx="164592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Moyen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97180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Élevé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7180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297180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3474720"/>
            <a:ext cx="1645920" cy="5029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Critique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47472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Élevé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47472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47472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474720"/>
            <a:ext cx="164592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Critique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Registre des risques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Inventaire structuré de tous les risques identifiés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Champs : ID, scénario, actif, impact, vraisemblance, niveau, statut, propriétaire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Cycle de vie : identifié → évalué → en traitement → accepté/résiduel → clôturé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Synchronisation automatique avec EBIOS ateliers 3-4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Export livrable réglementaire (EBIOS deliverable)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Plan de traitement des risques (PTR)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Décisions : réduire, transférer, accepter, éviter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Mesures de sécurité avec échéances, responsables, budgets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Priorisation automatique selon criticité et coût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Pilotage : % avancement, mesures en retard, budget consommé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généré depuis EBIOS atelier 5 + enrichissement manuel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Déclaration d'applicabilité (SoA)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Document ISO 27001 listant les 93 contrôles Annexe A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Pour chaque contrôle : applicable/non applicable, justification, statut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Lien direct avec les mesures du PTR et les risques du registre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Support d'audit de certification ISO 27001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UCA : génération et mise à jour depuis les mesures validées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PCA &amp; PRA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Plan de Continuité d'Activité (PCA)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Maintenir les activités critiques en cas de crise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Scénarios : cyberattaque, sinistre, pandémie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BIA : analyse d'impact sur les métiers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UCA : lien processus ↔ applications critiques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Plan de Reprise d'Activité (PRA)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Restaurer le SI dans des délais définis (RTO/RPO)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Scénarios : perte datacenter, ransomware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Basé sur la cartographie technique</a:t>
            </a:r>
          </a:p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UCA : actifs supports, dépendances, site PRA Métropolis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Modules Urban Cyber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Tour d'horizon fonctionnel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Urbanisme 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Cartographie multi-couches, import Excel, visualisation Club Urba, versioning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EBIOS 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5 ateliers complets, IA générative, validation workflow, progression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Référentiels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ISO 27001/02/05, NIST CSF, CIS, DORA, NIS2, ANSSI — base normative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PSSI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Génération assistée, chapitres structurés, alignement ANSSI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Cartographie des risques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Heatmap interactive, filtres,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Registre des risques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Synchronisé EBIOS, cycle de vie, propriétaires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PTR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Mesures, priorités, budgets, pilotage avancement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Dashboard RSSI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KPIs, progression EBIOS, alertes SOC, synthèse COMEX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Livrables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Rapport EBIOS, registre, PTR, synthèse exécutive HTML/PDF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SOC / Wazuh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92240" y="242316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754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8EDF5"/>
                </a:solidFill>
              </a:defRPr>
            </a:pPr>
            <a:r>
              <a:t>Connecteur alertes, corrélation actifs, tendances MTTD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Modules UCA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IA / Knowledge Graph : Génération contextuelle, capitalisation, Copilot RSSI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RSSI — Vue exécutive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KPIs : risques critiques, progression EBIOS, mesures en retard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Synthèse par domaine métier et par référentiel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Alertes SOC récentes corrélées aux actifs cartographiés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Prochaines actions recommandées (Copilot RSSI)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Exportable en synthèse COMEX (1 page exécutive)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Scénario fil rouge Métropolis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Scénario complet — Projet Métropolis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37160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1. Créer</a:t>
            </a:r>
            <a:br/>
            <a:r>
              <a:t>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286000"/>
            <a:ext cx="1371600" cy="8229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2. Import</a:t>
            </a:r>
            <a:br/>
            <a:r>
              <a:t>Excel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286000"/>
            <a:ext cx="1371600" cy="82296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3. Urbanisme</a:t>
            </a:r>
            <a:br/>
            <a:r>
              <a:t>&amp;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286000"/>
            <a:ext cx="1371600" cy="82296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4. EBIOS</a:t>
            </a:r>
            <a:br/>
            <a:r>
              <a:t>5 ateliers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286000"/>
            <a:ext cx="1371600" cy="8229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5. Registre</a:t>
            </a:r>
            <a:br/>
            <a:r>
              <a:t>&amp; PTR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286000"/>
            <a:ext cx="1371600" cy="82296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6. Dashboard</a:t>
            </a:r>
            <a:br/>
            <a:r>
              <a:t>RSSI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286000"/>
            <a:ext cx="1371600" cy="8229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EDF5"/>
                </a:solidFill>
              </a:defRPr>
            </a:pPr>
            <a:r>
              <a:t>7. Livrables</a:t>
            </a:r>
            <a:br/>
            <a:r>
              <a:t>COMEX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2651760"/>
            <a:ext cx="27432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2651760"/>
            <a:ext cx="274319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0640" y="2651760"/>
            <a:ext cx="27432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2651760"/>
            <a:ext cx="27432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2651760"/>
            <a:ext cx="27432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2651760"/>
            <a:ext cx="274320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Étape 1-2 : Projet &amp; Import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Création du projet « Métropolis – Sécurité publique &amp; Services numériques »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Paramétrage : 680 000 habitants, 5 métiers, 6 objectifs stratégiques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Import du fichier Excel Club Urba V1.4 (42 communes, SCADA, CSU)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Validation : 200+ entités, relations, 7 couches renseignées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Publication de la cartographie v1.0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Étape 3-4 : Urbanisme &amp; EBIOS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Visualisation graphique : zones métier, applications, flux SCADA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Lancement EBIOS : atelier 1 — 8 événements redoutés générés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Atelier 2 : sources de risque IA avec justifications contextuelles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Atelier 3 : scénarios stratégiques (ransomware IT→OT, fuite vidéo)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Validation par le RSSI à chaque étape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Étape 5-7 : GRC, SOC &amp; Livrables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Registre des risques : 24 risques évalués, 6 critiques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PTR : 45 mesures priorisées, budget 1,8 M€ sur 3 ans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Dashboard RSSI : heatmap, KPIs, alertes Wazuh corrélées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Génération des 4 livrables EBIOS (rapport, registre, PTR, synthèse COMEX)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Boucle fermée : alerte SOC → risque cartographié → mesure PTR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Évolutions V1 → V2 → V3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Feuille de route produit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00584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640080" cy="32004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A0E17"/>
                </a:solidFill>
              </a:defRPr>
            </a:pPr>
            <a:r>
              <a:t>V1</a:t>
            </a:r>
            <a:br/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Urbanisme</a:t>
            </a:r>
            <a:br/>
            <a:r>
              <a:t>EBIOS 5 ateliers</a:t>
            </a:r>
            <a:br/>
            <a:r>
              <a:t>GRC de base</a:t>
            </a:r>
            <a:br/>
            <a:r>
              <a:t>SOC Wazuh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2606040"/>
            <a:ext cx="640080" cy="32004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A0E17"/>
                </a:solidFill>
              </a:defRPr>
            </a:pPr>
            <a:r>
              <a:t>V2</a:t>
            </a:r>
            <a:br/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0632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Copilot RSSI</a:t>
            </a:r>
            <a:br/>
            <a:r>
              <a:t>Knowledge Graph</a:t>
            </a:r>
            <a:br/>
            <a:r>
              <a:t>Export PDF/DOCX</a:t>
            </a:r>
            <a:br/>
            <a:r>
              <a:t>Multi-tenant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606040"/>
            <a:ext cx="640080" cy="320040"/>
          </a:xfrm>
          <a:prstGeom prst="roundRect">
            <a:avLst/>
          </a:prstGeom>
          <a:solidFill>
            <a:srgbClr val="00D4AA"/>
          </a:solidFill>
          <a:ln w="1270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A0E17"/>
                </a:solidFill>
              </a:defRPr>
            </a:pPr>
            <a:r>
              <a:t>V3</a:t>
            </a:r>
            <a:br/>
            <a: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30632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DF5"/>
                </a:solidFill>
              </a:defRPr>
            </a:pPr>
            <a:r>
              <a:t>Agent IA autonome</a:t>
            </a:r>
            <a:br/>
            <a:r>
              <a:t>Prédiction risques</a:t>
            </a:r>
            <a:br/>
            <a:r>
              <a:t>Jumeau numérique</a:t>
            </a:r>
            <a:br/>
            <a:r>
              <a:t>TPRM DORA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V1 — Fondations (actuel)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Cartographie Club Urba complète avec import Excel et versioning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EBIOS RM 5 ateliers avec génération IA et workflow de validation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GRC : PSSI, registre, PTR, SoA, heatmap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Livrables EBIOS : rapport, registre, PTR, synthèse COMEX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Connecteur SOC Wazuh, dashboard RSSI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V2 &amp; V3 — Ambition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V2 : Copilot RSSI conversationnel, Knowledge Graph complet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V2 : Exports PDF/DOCX/XLSX, intégration SIEM multi-sources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V3 : Agent IA autonome de veille et recommandation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V3 : Prédiction des risques par ML sur historique SOC + GRC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V3 : Jumeau numérique du SI pour simulation de scénarios cyber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PARTIE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96AB"/>
                </a:solidFill>
              </a:defRPr>
            </a:pPr>
            <a:r>
              <a:t>Valeur, ROI et vision long terme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Valeur métier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Réduction de 60-70% du temps d'une étude EBIOS complète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Élimination de la double saisie cartographie → analyse de risques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Livrables COMEX en un clic vs. plusieurs jours de rédaction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Conformité NIS2/DORA/ISO démontrable à tout instant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ROI estimé : retour sur investissement &lt; 12 mois pour une métropole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Différenciateurs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Seule plateforme intégrant urbanisme SI + EBIOS RM + GRC + SOC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Méthode EBIOS RM native ANSSI, pas un module générique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IA contextuelle alimentée par la cartographie réelle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Projet fil rouge Métropolis démontrant la chaîne complète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Approche cabinet de conseil industrialisée dans un outil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Vision long terme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Devenir la plateforme de référence GRC pour le secteur public français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Jumeau numérique cyber : simuler l'impact d'une attaque sur le SI réel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Écosystème ouvert : connecteurs SIEM, CMDB, GRC tiers, threat intelligence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Communauté Club Urba : partage de bonnes pratiques et cartographies types</a:t>
            </a:r>
          </a:p>
          <a:p>
            <a:pPr>
              <a:spcAft>
                <a:spcPts val="800"/>
              </a:spcAft>
              <a:defRPr sz="1500">
                <a:solidFill>
                  <a:srgbClr val="E8EDF5"/>
                </a:solidFill>
              </a:defRPr>
            </a:pPr>
            <a:r>
              <a:t>Agent IA RSSI : copilote permanent de la gouvernance SSI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4AA"/>
                </a:solidFill>
              </a:defRPr>
            </a:pPr>
            <a:r>
              <a:t>Urban Cyber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6AB"/>
                </a:solidFill>
              </a:defRPr>
            </a:pPr>
            <a:r>
              <a:t>Questions &amp; démonstration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AB"/>
                </a:solidFill>
              </a:defRPr>
            </a:pPr>
            <a:r>
              <a:t>Urban Cyber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96AB"/>
                </a:solidFill>
              </a:defRPr>
            </a:pPr>
            <a:r>
              <a:t>Présentation Premium —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